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1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348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320040"/>
            <a:ext cx="7315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50" b="0">
                <a:solidFill>
                  <a:srgbClr val="666678"/>
                </a:solidFill>
                <a:latin typeface="JetBrains Mono"/>
              </a:rPr>
              <a:t>REGIME-AWARE FORECASTING · HONOURS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82351" y="320040"/>
            <a:ext cx="10972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r"/>
            <a:r>
              <a:rPr sz="850" b="0">
                <a:solidFill>
                  <a:srgbClr val="666678"/>
                </a:solidFill>
                <a:latin typeface="JetBrains Mono"/>
              </a:rPr>
              <a:t>01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1051560"/>
            <a:ext cx="11167567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3800" b="1">
                <a:solidFill>
                  <a:srgbClr val="F0F0F5"/>
                </a:solidFill>
                <a:latin typeface="Inter"/>
              </a:rPr>
              <a:t>HMM-Derived Regime 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664208"/>
            <a:ext cx="11167567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3800" b="1" dirty="0">
                <a:solidFill>
                  <a:srgbClr val="FF6B2B"/>
                </a:solidFill>
                <a:latin typeface="Inter"/>
              </a:rPr>
              <a:t>and Weekly Market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2267712"/>
            <a:ext cx="11167567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3400" b="1">
                <a:solidFill>
                  <a:srgbClr val="F0F0F5"/>
                </a:solidFill>
                <a:latin typeface="Inter"/>
              </a:rPr>
              <a:t>for Stock Direction Prediction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" y="3154680"/>
            <a:ext cx="9875520" cy="1143000"/>
          </a:xfrm>
          <a:prstGeom prst="roundRect">
            <a:avLst/>
          </a:prstGeom>
          <a:solidFill>
            <a:srgbClr val="16161E"/>
          </a:solidFill>
          <a:ln w="9525">
            <a:solidFill>
              <a:srgbClr val="3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3364992"/>
            <a:ext cx="201168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900" b="1">
                <a:solidFill>
                  <a:srgbClr val="FF6B2B"/>
                </a:solidFill>
                <a:latin typeface="JetBrains Mono"/>
              </a:rPr>
              <a:t>Research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639312"/>
            <a:ext cx="9235440" cy="512064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lnSpcReduction="10000"/>
          </a:bodyPr>
          <a:lstStyle/>
          <a:p>
            <a:pPr algn="l"/>
            <a:r>
              <a:rPr sz="1700" b="0">
                <a:solidFill>
                  <a:srgbClr val="A4A4B8"/>
                </a:solidFill>
                <a:latin typeface="DM Sans"/>
              </a:rPr>
              <a:t>To what extent can HMM-derived regime information and weekly market-context features improve LSTM-based prediction of next-week stock direction for AAPL, IBM, and MSFT?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7784" y="4617720"/>
            <a:ext cx="822960" cy="347472"/>
          </a:xfrm>
          <a:prstGeom prst="roundRect">
            <a:avLst/>
          </a:prstGeom>
          <a:solidFill>
            <a:srgbClr val="0D0D13"/>
          </a:solidFill>
          <a:ln w="9525">
            <a:solidFill>
              <a:srgbClr val="24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57784" y="4690872"/>
            <a:ext cx="8229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fontScale="92500" lnSpcReduction="10000"/>
          </a:bodyPr>
          <a:lstStyle/>
          <a:p>
            <a:pPr algn="ctr"/>
            <a:r>
              <a:rPr sz="1000" b="1">
                <a:solidFill>
                  <a:srgbClr val="F0F0F5"/>
                </a:solidFill>
                <a:latin typeface="JetBrains Mono"/>
              </a:rPr>
              <a:t>AAPL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09344" y="4617720"/>
            <a:ext cx="822960" cy="347472"/>
          </a:xfrm>
          <a:prstGeom prst="roundRect">
            <a:avLst/>
          </a:prstGeom>
          <a:solidFill>
            <a:srgbClr val="0D0D13"/>
          </a:solidFill>
          <a:ln w="9525">
            <a:solidFill>
              <a:srgbClr val="24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609344" y="4690872"/>
            <a:ext cx="8229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fontScale="92500" lnSpcReduction="10000"/>
          </a:bodyPr>
          <a:lstStyle/>
          <a:p>
            <a:pPr algn="ctr"/>
            <a:r>
              <a:rPr sz="1000" b="1">
                <a:solidFill>
                  <a:srgbClr val="F0F0F5"/>
                </a:solidFill>
                <a:latin typeface="JetBrains Mono"/>
              </a:rPr>
              <a:t>IBM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60904" y="4617720"/>
            <a:ext cx="822960" cy="347472"/>
          </a:xfrm>
          <a:prstGeom prst="roundRect">
            <a:avLst/>
          </a:prstGeom>
          <a:solidFill>
            <a:srgbClr val="0D0D13"/>
          </a:solidFill>
          <a:ln w="9525">
            <a:solidFill>
              <a:srgbClr val="24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60904" y="4690872"/>
            <a:ext cx="8229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fontScale="92500" lnSpcReduction="10000"/>
          </a:bodyPr>
          <a:lstStyle/>
          <a:p>
            <a:pPr algn="ctr"/>
            <a:r>
              <a:rPr sz="1000" b="1">
                <a:solidFill>
                  <a:srgbClr val="F0F0F5"/>
                </a:solidFill>
                <a:latin typeface="JetBrains Mono"/>
              </a:rPr>
              <a:t>MSFT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" y="6428232"/>
            <a:ext cx="11167567" cy="9144"/>
          </a:xfrm>
          <a:prstGeom prst="rect">
            <a:avLst/>
          </a:prstGeom>
          <a:solidFill>
            <a:srgbClr val="3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2064" y="6492240"/>
            <a:ext cx="6400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50" b="0">
                <a:solidFill>
                  <a:srgbClr val="666678"/>
                </a:solidFill>
                <a:latin typeface="JetBrains Mono"/>
              </a:rPr>
              <a:t>HONOURS PROJECT · HMM-LSTM STOCK DIRECTION PREDICTION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50831" y="6492240"/>
            <a:ext cx="1828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r"/>
            <a:r>
              <a:rPr sz="850" b="0">
                <a:solidFill>
                  <a:srgbClr val="666678"/>
                </a:solidFill>
                <a:latin typeface="JetBrains Mono"/>
              </a:rPr>
              <a:t>SLIDE 01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320040"/>
            <a:ext cx="7315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50" b="0">
                <a:solidFill>
                  <a:srgbClr val="666678"/>
                </a:solidFill>
                <a:latin typeface="JetBrains Mono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82351" y="320040"/>
            <a:ext cx="10972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r"/>
            <a:r>
              <a:rPr sz="850" b="0">
                <a:solidFill>
                  <a:srgbClr val="666678"/>
                </a:solidFill>
                <a:latin typeface="JetBrains Mono"/>
              </a:rPr>
              <a:t>02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94944"/>
            <a:ext cx="11167567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800" b="1">
                <a:solidFill>
                  <a:srgbClr val="F0F0F5"/>
                </a:solidFill>
                <a:latin typeface="Inter"/>
              </a:rPr>
              <a:t>Daily stock-return prediction is noisy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115568"/>
            <a:ext cx="11167567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300" b="0">
                <a:solidFill>
                  <a:srgbClr val="A4A4B8"/>
                </a:solidFill>
                <a:latin typeface="DM Sans"/>
              </a:rPr>
              <a:t>The first LSTM regression framing struggled to beat simple baselines.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6428232"/>
            <a:ext cx="11167567" cy="9144"/>
          </a:xfrm>
          <a:prstGeom prst="rect">
            <a:avLst/>
          </a:prstGeom>
          <a:solidFill>
            <a:srgbClr val="3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12064" y="6492240"/>
            <a:ext cx="6400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50" b="0">
                <a:solidFill>
                  <a:srgbClr val="666678"/>
                </a:solidFill>
                <a:latin typeface="JetBrains Mono"/>
              </a:rPr>
              <a:t>HONOURS PROJECT · HMM-LSTM STOCK DIRECTION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50831" y="6492240"/>
            <a:ext cx="1828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r"/>
            <a:r>
              <a:rPr sz="850" b="0">
                <a:solidFill>
                  <a:srgbClr val="666678"/>
                </a:solidFill>
                <a:latin typeface="JetBrains Mono"/>
              </a:rPr>
              <a:t>SLIDE 02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" y="1618488"/>
            <a:ext cx="6720840" cy="3977639"/>
          </a:xfrm>
          <a:prstGeom prst="roundRect">
            <a:avLst/>
          </a:prstGeom>
          <a:solidFill>
            <a:srgbClr val="0D0D13"/>
          </a:solidFill>
          <a:ln w="9525">
            <a:solidFill>
              <a:srgbClr val="24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daily_vs_weekly_return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302" y="2204945"/>
            <a:ext cx="6720840" cy="250297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543800" y="1572768"/>
            <a:ext cx="3977639" cy="1325880"/>
          </a:xfrm>
          <a:prstGeom prst="roundRect">
            <a:avLst/>
          </a:prstGeom>
          <a:solidFill>
            <a:srgbClr val="16161E"/>
          </a:solidFill>
          <a:ln w="9525">
            <a:solidFill>
              <a:srgbClr val="24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08392" y="1709928"/>
            <a:ext cx="3648455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lnSpcReduction="10000"/>
          </a:bodyPr>
          <a:lstStyle/>
          <a:p>
            <a:pPr algn="l"/>
            <a:r>
              <a:rPr sz="1600" b="1">
                <a:solidFill>
                  <a:srgbClr val="F0F0F5"/>
                </a:solidFill>
                <a:latin typeface="Inter"/>
              </a:rPr>
              <a:t>Pivot in the project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08392" y="2029968"/>
            <a:ext cx="3648455" cy="13716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08392" y="2139696"/>
            <a:ext cx="3648455" cy="6675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300" b="0" dirty="0">
                <a:solidFill>
                  <a:srgbClr val="A4A4B8"/>
                </a:solidFill>
                <a:latin typeface="DM Sans"/>
              </a:rPr>
              <a:t>A standard daily-return LSTM struggled to beat simple benchmarks, so the task moved to weekly direction classification.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3092570"/>
            <a:ext cx="3977639" cy="1325880"/>
          </a:xfrm>
          <a:prstGeom prst="roundRect">
            <a:avLst/>
          </a:prstGeom>
          <a:solidFill>
            <a:srgbClr val="16161E"/>
          </a:solidFill>
          <a:ln w="9525">
            <a:solidFill>
              <a:srgbClr val="24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08392" y="3255264"/>
            <a:ext cx="3648455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lnSpcReduction="10000"/>
          </a:bodyPr>
          <a:lstStyle/>
          <a:p>
            <a:pPr algn="l"/>
            <a:r>
              <a:rPr sz="1600" b="1">
                <a:solidFill>
                  <a:srgbClr val="F0F0F5"/>
                </a:solidFill>
                <a:latin typeface="Inter"/>
              </a:rPr>
              <a:t>Why weekly?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08392" y="3520440"/>
            <a:ext cx="3648455" cy="1371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08392" y="3630168"/>
            <a:ext cx="3648455" cy="6675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300" b="0" dirty="0">
                <a:solidFill>
                  <a:srgbClr val="A4A4B8"/>
                </a:solidFill>
                <a:latin typeface="DM Sans"/>
              </a:rPr>
              <a:t>Weekly aggregation reduces short-horizon noise and turns the problem into a more interpretable bullish/bearish classification task.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320040"/>
            <a:ext cx="7315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50" b="0">
                <a:solidFill>
                  <a:srgbClr val="666678"/>
                </a:solidFill>
                <a:latin typeface="JetBrains Mono"/>
              </a:rPr>
              <a:t>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82351" y="320040"/>
            <a:ext cx="10972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r"/>
            <a:r>
              <a:rPr sz="850" b="0">
                <a:solidFill>
                  <a:srgbClr val="666678"/>
                </a:solidFill>
                <a:latin typeface="JetBrains Mono"/>
              </a:rPr>
              <a:t>03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94944"/>
            <a:ext cx="11167567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800" b="1">
                <a:solidFill>
                  <a:srgbClr val="F0F0F5"/>
                </a:solidFill>
                <a:latin typeface="Inter"/>
              </a:rPr>
              <a:t>Final prediction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115568"/>
            <a:ext cx="11167567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300" b="0">
                <a:solidFill>
                  <a:srgbClr val="A4A4B8"/>
                </a:solidFill>
                <a:latin typeface="DM Sans"/>
              </a:rPr>
              <a:t>Next-week stock direction for AAPL, IBM, and MSFT.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6428232"/>
            <a:ext cx="11167567" cy="9144"/>
          </a:xfrm>
          <a:prstGeom prst="rect">
            <a:avLst/>
          </a:prstGeom>
          <a:solidFill>
            <a:srgbClr val="3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12064" y="6492240"/>
            <a:ext cx="6400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50" b="0">
                <a:solidFill>
                  <a:srgbClr val="666678"/>
                </a:solidFill>
                <a:latin typeface="JetBrains Mono"/>
              </a:rPr>
              <a:t>HONOURS PROJECT · HMM-LSTM STOCK DIRECTION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50831" y="6492240"/>
            <a:ext cx="1828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r"/>
            <a:r>
              <a:rPr sz="850" b="0">
                <a:solidFill>
                  <a:srgbClr val="666678"/>
                </a:solidFill>
                <a:latin typeface="JetBrains Mono"/>
              </a:rPr>
              <a:t>SLIDE 03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" y="1536192"/>
            <a:ext cx="11167567" cy="3474720"/>
          </a:xfrm>
          <a:prstGeom prst="roundRect">
            <a:avLst/>
          </a:prstGeom>
          <a:solidFill>
            <a:srgbClr val="16161E"/>
          </a:solidFill>
          <a:ln w="9525">
            <a:solidFill>
              <a:srgbClr val="3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4" y="1783080"/>
            <a:ext cx="18288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000" b="1">
                <a:solidFill>
                  <a:srgbClr val="FF6B2B"/>
                </a:solidFill>
                <a:latin typeface="JetBrains Mono"/>
              </a:rPr>
              <a:t>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" y="2148840"/>
            <a:ext cx="557784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700" b="1" dirty="0">
                <a:solidFill>
                  <a:srgbClr val="F0F0F5"/>
                </a:solidFill>
                <a:latin typeface="Inter"/>
              </a:rPr>
              <a:t>yₜ₊₁ = 1 if next-week return &gt;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3090672"/>
            <a:ext cx="18288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000" b="1">
                <a:solidFill>
                  <a:srgbClr val="FF6B2B"/>
                </a:solidFill>
                <a:latin typeface="JetBrains Mono"/>
              </a:rPr>
              <a:t>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3429000"/>
            <a:ext cx="667512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fontScale="85000" lnSpcReduction="10000"/>
          </a:bodyPr>
          <a:lstStyle/>
          <a:p>
            <a:pPr algn="l"/>
            <a:r>
              <a:rPr sz="1800" b="0" dirty="0">
                <a:solidFill>
                  <a:srgbClr val="A4A4B8"/>
                </a:solidFill>
                <a:latin typeface="DM Sans"/>
              </a:rPr>
              <a:t>Past weekly stock features → predict next-week bullish / bearish direction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783080"/>
            <a:ext cx="1828800" cy="3200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000" b="1">
                <a:solidFill>
                  <a:srgbClr val="FF6B2B"/>
                </a:solidFill>
                <a:latin typeface="JetBrains Mono"/>
              </a:rPr>
              <a:t>Tickers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240280"/>
            <a:ext cx="2651760" cy="438912"/>
          </a:xfrm>
          <a:prstGeom prst="roundRect">
            <a:avLst/>
          </a:prstGeom>
          <a:solidFill>
            <a:srgbClr val="0D0D13"/>
          </a:solidFill>
          <a:ln w="9525">
            <a:solidFill>
              <a:srgbClr val="24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83879" y="2322576"/>
            <a:ext cx="237744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/>
            <a:r>
              <a:rPr sz="2000" b="1" dirty="0">
                <a:solidFill>
                  <a:srgbClr val="F0F0F5"/>
                </a:solidFill>
                <a:latin typeface="JetBrains Mono"/>
              </a:rPr>
              <a:t>AAPL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898648"/>
            <a:ext cx="2651760" cy="438912"/>
          </a:xfrm>
          <a:prstGeom prst="roundRect">
            <a:avLst/>
          </a:prstGeom>
          <a:solidFill>
            <a:srgbClr val="0D0D13"/>
          </a:solidFill>
          <a:ln w="9525">
            <a:solidFill>
              <a:srgbClr val="24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800"/>
          </a:p>
        </p:txBody>
      </p:sp>
      <p:sp>
        <p:nvSpPr>
          <p:cNvPr id="18" name="TextBox 17"/>
          <p:cNvSpPr txBox="1"/>
          <p:nvPr/>
        </p:nvSpPr>
        <p:spPr>
          <a:xfrm>
            <a:off x="8183879" y="2980944"/>
            <a:ext cx="237744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/>
            <a:r>
              <a:rPr sz="2000" b="1">
                <a:solidFill>
                  <a:srgbClr val="F0F0F5"/>
                </a:solidFill>
                <a:latin typeface="JetBrains Mono"/>
              </a:rPr>
              <a:t>IBM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3471" y="3520440"/>
            <a:ext cx="2651760" cy="438912"/>
          </a:xfrm>
          <a:prstGeom prst="roundRect">
            <a:avLst/>
          </a:prstGeom>
          <a:solidFill>
            <a:srgbClr val="0D0D13"/>
          </a:solidFill>
          <a:ln w="9525">
            <a:solidFill>
              <a:srgbClr val="24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83879" y="3616452"/>
            <a:ext cx="237744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/>
            <a:r>
              <a:rPr sz="1600" b="1" dirty="0">
                <a:solidFill>
                  <a:srgbClr val="F0F0F5"/>
                </a:solidFill>
                <a:latin typeface="JetBrains Mono"/>
              </a:rPr>
              <a:t>MSFT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320040"/>
            <a:ext cx="7315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50" b="0">
                <a:solidFill>
                  <a:srgbClr val="666678"/>
                </a:solidFill>
                <a:latin typeface="JetBrains Mono"/>
              </a:rPr>
              <a:t>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82351" y="320040"/>
            <a:ext cx="10972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r"/>
            <a:r>
              <a:rPr sz="850" b="0">
                <a:solidFill>
                  <a:srgbClr val="666678"/>
                </a:solidFill>
                <a:latin typeface="JetBrains Mono"/>
              </a:rPr>
              <a:t>04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94944"/>
            <a:ext cx="11167567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800" b="1">
                <a:solidFill>
                  <a:srgbClr val="F0F0F5"/>
                </a:solidFill>
                <a:latin typeface="Inter"/>
              </a:rPr>
              <a:t>Method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115568"/>
            <a:ext cx="11167567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300" b="0">
                <a:solidFill>
                  <a:srgbClr val="A4A4B8"/>
                </a:solidFill>
                <a:latin typeface="DM Sans"/>
              </a:rPr>
              <a:t>Daily prices become weekly features, then regime/context signals feed the LSTM.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6428232"/>
            <a:ext cx="11167567" cy="9144"/>
          </a:xfrm>
          <a:prstGeom prst="rect">
            <a:avLst/>
          </a:prstGeom>
          <a:solidFill>
            <a:srgbClr val="3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12064" y="6492240"/>
            <a:ext cx="6400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50" b="0">
                <a:solidFill>
                  <a:srgbClr val="666678"/>
                </a:solidFill>
                <a:latin typeface="JetBrains Mono"/>
              </a:rPr>
              <a:t>HONOURS PROJECT · HMM-LSTM STOCK DIRECTION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50831" y="6492240"/>
            <a:ext cx="1828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r"/>
            <a:r>
              <a:rPr sz="850" b="0">
                <a:solidFill>
                  <a:srgbClr val="666678"/>
                </a:solidFill>
                <a:latin typeface="JetBrains Mono"/>
              </a:rPr>
              <a:t>SLIDE 04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" y="2148840"/>
            <a:ext cx="1965960" cy="1417320"/>
          </a:xfrm>
          <a:prstGeom prst="roundRect">
            <a:avLst/>
          </a:prstGeom>
          <a:solidFill>
            <a:srgbClr val="16161E"/>
          </a:solidFill>
          <a:ln w="9525">
            <a:solidFill>
              <a:srgbClr val="24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6656" y="2286000"/>
            <a:ext cx="163677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300" b="1">
                <a:solidFill>
                  <a:srgbClr val="F0F0F5"/>
                </a:solidFill>
                <a:latin typeface="Inter"/>
              </a:rPr>
              <a:t>Daily OHLCV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" y="2606040"/>
            <a:ext cx="1636776" cy="1371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6656" y="2715768"/>
            <a:ext cx="1636776" cy="7589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050" b="0">
                <a:solidFill>
                  <a:srgbClr val="A4A4B8"/>
                </a:solidFill>
                <a:latin typeface="DM Sans"/>
              </a:rPr>
              <a:t>Open, high, low, close, volume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23744" y="2642616"/>
            <a:ext cx="3200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fontScale="70000" lnSpcReduction="20000"/>
          </a:bodyPr>
          <a:lstStyle/>
          <a:p>
            <a:pPr algn="l"/>
            <a:r>
              <a:rPr sz="2600" b="1">
                <a:solidFill>
                  <a:srgbClr val="FF6B2B"/>
                </a:solidFill>
                <a:latin typeface="Inter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34056" y="2148840"/>
            <a:ext cx="1965960" cy="1417320"/>
          </a:xfrm>
          <a:prstGeom prst="roundRect">
            <a:avLst/>
          </a:prstGeom>
          <a:solidFill>
            <a:srgbClr val="16161E"/>
          </a:solidFill>
          <a:ln w="9525">
            <a:solidFill>
              <a:srgbClr val="24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98648" y="2286000"/>
            <a:ext cx="163677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300" b="1">
                <a:solidFill>
                  <a:srgbClr val="F0F0F5"/>
                </a:solidFill>
                <a:latin typeface="Inter"/>
              </a:rPr>
              <a:t>Weekly features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98648" y="2606040"/>
            <a:ext cx="1636776" cy="1371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98648" y="2715768"/>
            <a:ext cx="1636776" cy="7589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050" b="0">
                <a:solidFill>
                  <a:srgbClr val="A4A4B8"/>
                </a:solidFill>
                <a:latin typeface="DM Sans"/>
              </a:rPr>
              <a:t>Returns, volatility, momentum, drawdown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45736" y="2642616"/>
            <a:ext cx="3200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fontScale="70000" lnSpcReduction="20000"/>
          </a:bodyPr>
          <a:lstStyle/>
          <a:p>
            <a:pPr algn="l"/>
            <a:r>
              <a:rPr sz="2600" b="1">
                <a:solidFill>
                  <a:srgbClr val="FF6B2B"/>
                </a:solidFill>
                <a:latin typeface="Inter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56048" y="2148840"/>
            <a:ext cx="1965960" cy="1417320"/>
          </a:xfrm>
          <a:prstGeom prst="roundRect">
            <a:avLst/>
          </a:prstGeom>
          <a:solidFill>
            <a:srgbClr val="16161E"/>
          </a:solidFill>
          <a:ln w="9525">
            <a:solidFill>
              <a:srgbClr val="24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20640" y="2286000"/>
            <a:ext cx="163677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300" b="1">
                <a:solidFill>
                  <a:srgbClr val="F0F0F5"/>
                </a:solidFill>
                <a:latin typeface="Inter"/>
              </a:rPr>
              <a:t>HMM probabilities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20640" y="2606040"/>
            <a:ext cx="1636776" cy="13716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20640" y="2715768"/>
            <a:ext cx="1636776" cy="7589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050" b="0">
                <a:solidFill>
                  <a:srgbClr val="A4A4B8"/>
                </a:solidFill>
                <a:latin typeface="DM Sans"/>
              </a:rPr>
              <a:t>One-step regime / up probabilities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7728" y="2642616"/>
            <a:ext cx="3200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fontScale="70000" lnSpcReduction="20000"/>
          </a:bodyPr>
          <a:lstStyle/>
          <a:p>
            <a:pPr algn="l"/>
            <a:r>
              <a:rPr sz="2600" b="1">
                <a:solidFill>
                  <a:srgbClr val="FF6B2B"/>
                </a:solidFill>
                <a:latin typeface="Inter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78040" y="2148840"/>
            <a:ext cx="1965960" cy="1417320"/>
          </a:xfrm>
          <a:prstGeom prst="roundRect">
            <a:avLst/>
          </a:prstGeom>
          <a:solidFill>
            <a:srgbClr val="16161E"/>
          </a:solidFill>
          <a:ln w="9525">
            <a:solidFill>
              <a:srgbClr val="24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42632" y="2286000"/>
            <a:ext cx="163677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300" b="1">
                <a:solidFill>
                  <a:srgbClr val="F0F0F5"/>
                </a:solidFill>
                <a:latin typeface="Inter"/>
              </a:rPr>
              <a:t>LSTM classifier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42632" y="2606040"/>
            <a:ext cx="1636776" cy="13716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42632" y="2715768"/>
            <a:ext cx="1636776" cy="7589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050" b="0">
                <a:solidFill>
                  <a:srgbClr val="A4A4B8"/>
                </a:solidFill>
                <a:latin typeface="DM Sans"/>
              </a:rPr>
              <a:t>Lookback windows: 4, 8, 12, 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2642616"/>
            <a:ext cx="3200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fontScale="70000" lnSpcReduction="20000"/>
          </a:bodyPr>
          <a:lstStyle/>
          <a:p>
            <a:pPr algn="l"/>
            <a:r>
              <a:rPr sz="2600" b="1">
                <a:solidFill>
                  <a:srgbClr val="FF6B2B"/>
                </a:solidFill>
                <a:latin typeface="Inter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00032" y="2148840"/>
            <a:ext cx="1965960" cy="1417320"/>
          </a:xfrm>
          <a:prstGeom prst="roundRect">
            <a:avLst/>
          </a:prstGeom>
          <a:solidFill>
            <a:srgbClr val="16161E"/>
          </a:solidFill>
          <a:ln w="9525">
            <a:solidFill>
              <a:srgbClr val="24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564624" y="2286000"/>
            <a:ext cx="163677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300" b="1">
                <a:solidFill>
                  <a:srgbClr val="F0F0F5"/>
                </a:solidFill>
                <a:latin typeface="Inter"/>
              </a:rPr>
              <a:t>Direction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64624" y="2606040"/>
            <a:ext cx="1636776" cy="1371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564624" y="2715768"/>
            <a:ext cx="1636776" cy="7589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050" b="0">
                <a:solidFill>
                  <a:srgbClr val="A4A4B8"/>
                </a:solidFill>
                <a:latin typeface="DM Sans"/>
              </a:rPr>
              <a:t>Next-week bullish or bearish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320040"/>
            <a:ext cx="7315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50" b="0">
                <a:solidFill>
                  <a:srgbClr val="666678"/>
                </a:solidFill>
                <a:latin typeface="JetBrains Mono"/>
              </a:rPr>
              <a:t>REGIME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82351" y="320040"/>
            <a:ext cx="10972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r"/>
            <a:r>
              <a:rPr sz="850" b="0">
                <a:solidFill>
                  <a:srgbClr val="666678"/>
                </a:solidFill>
                <a:latin typeface="JetBrains Mono"/>
              </a:rPr>
              <a:t>05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94944"/>
            <a:ext cx="11167567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800" b="1">
                <a:solidFill>
                  <a:srgbClr val="F0F0F5"/>
                </a:solidFill>
                <a:latin typeface="Inter"/>
              </a:rPr>
              <a:t>HMM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115568"/>
            <a:ext cx="11167567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300" b="0">
                <a:solidFill>
                  <a:srgbClr val="A4A4B8"/>
                </a:solidFill>
                <a:latin typeface="DM Sans"/>
              </a:rPr>
              <a:t>A two-state latent regime model fitted on weekly returns.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6428232"/>
            <a:ext cx="11167567" cy="9144"/>
          </a:xfrm>
          <a:prstGeom prst="rect">
            <a:avLst/>
          </a:prstGeom>
          <a:solidFill>
            <a:srgbClr val="3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12064" y="6492240"/>
            <a:ext cx="6400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50" b="0">
                <a:solidFill>
                  <a:srgbClr val="666678"/>
                </a:solidFill>
                <a:latin typeface="JetBrains Mono"/>
              </a:rPr>
              <a:t>HONOURS PROJECT · HMM-LSTM STOCK DIRECTION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50831" y="6492240"/>
            <a:ext cx="1828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r"/>
            <a:r>
              <a:rPr sz="850" b="0">
                <a:solidFill>
                  <a:srgbClr val="666678"/>
                </a:solidFill>
                <a:latin typeface="JetBrains Mono"/>
              </a:rPr>
              <a:t>SLIDE 05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" y="1600200"/>
            <a:ext cx="5349240" cy="1828800"/>
          </a:xfrm>
          <a:prstGeom prst="roundRect">
            <a:avLst/>
          </a:prstGeom>
          <a:solidFill>
            <a:srgbClr val="16161E"/>
          </a:solidFill>
          <a:ln w="9525">
            <a:solidFill>
              <a:srgbClr val="3A3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4" y="2084831"/>
            <a:ext cx="4663440" cy="640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3000" b="1">
                <a:solidFill>
                  <a:srgbClr val="F0F0F5"/>
                </a:solidFill>
                <a:latin typeface="Inter"/>
              </a:rPr>
              <a:t>rₜ | zₜ = k  ~  N( μₖ , σ²ₖ 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600200"/>
            <a:ext cx="4800600" cy="1097280"/>
          </a:xfrm>
          <a:prstGeom prst="roundRect">
            <a:avLst/>
          </a:prstGeom>
          <a:solidFill>
            <a:srgbClr val="16161E"/>
          </a:solidFill>
          <a:ln w="9525">
            <a:solidFill>
              <a:srgbClr val="24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11112" y="1737360"/>
            <a:ext cx="447141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lnSpcReduction="10000"/>
          </a:bodyPr>
          <a:lstStyle/>
          <a:p>
            <a:pPr algn="l"/>
            <a:r>
              <a:rPr sz="1500" b="1">
                <a:solidFill>
                  <a:srgbClr val="F0F0F5"/>
                </a:solidFill>
                <a:latin typeface="Inter"/>
              </a:rPr>
              <a:t>State labelling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11112" y="2057400"/>
            <a:ext cx="4471416" cy="13716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11112" y="2167128"/>
            <a:ext cx="4471416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200" b="0">
                <a:solidFill>
                  <a:srgbClr val="A4A4B8"/>
                </a:solidFill>
                <a:latin typeface="DM Sans"/>
              </a:rPr>
              <a:t>The state with higher training mean return is labelled bullish; the other is labelled bearish.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2926080"/>
            <a:ext cx="4800600" cy="1234440"/>
          </a:xfrm>
          <a:prstGeom prst="roundRect">
            <a:avLst/>
          </a:prstGeom>
          <a:solidFill>
            <a:srgbClr val="16161E"/>
          </a:solidFill>
          <a:ln w="9525">
            <a:solidFill>
              <a:srgbClr val="24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11112" y="3063240"/>
            <a:ext cx="447141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lnSpcReduction="10000"/>
          </a:bodyPr>
          <a:lstStyle/>
          <a:p>
            <a:pPr algn="l"/>
            <a:r>
              <a:rPr sz="1500" b="1">
                <a:solidFill>
                  <a:srgbClr val="F0F0F5"/>
                </a:solidFill>
                <a:latin typeface="Inter"/>
              </a:rPr>
              <a:t>Feature handoff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11112" y="3383280"/>
            <a:ext cx="4471416" cy="1371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11112" y="3493008"/>
            <a:ext cx="4471416" cy="5760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200" b="0">
                <a:solidFill>
                  <a:srgbClr val="A4A4B8"/>
                </a:solidFill>
                <a:latin typeface="DM Sans"/>
              </a:rPr>
              <a:t>HMM output is converted into next-week regime and positive-return probabilities, then appended to selected LSTM inputs.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320040"/>
            <a:ext cx="7315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50" b="0">
                <a:solidFill>
                  <a:srgbClr val="666678"/>
                </a:solidFill>
                <a:latin typeface="JetBrains Mono"/>
              </a:rPr>
              <a:t>REGIME DIAGNOSTIC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82351" y="320040"/>
            <a:ext cx="10972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r"/>
            <a:r>
              <a:rPr sz="850" b="0">
                <a:solidFill>
                  <a:srgbClr val="666678"/>
                </a:solidFill>
                <a:latin typeface="JetBrains Mono"/>
              </a:rPr>
              <a:t>06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94944"/>
            <a:ext cx="11167567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800" b="1">
                <a:solidFill>
                  <a:srgbClr val="F0F0F5"/>
                </a:solidFill>
                <a:latin typeface="Inter"/>
              </a:rPr>
              <a:t>What HMM found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115568"/>
            <a:ext cx="11167567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300" b="0" dirty="0">
                <a:solidFill>
                  <a:srgbClr val="A4A4B8"/>
                </a:solidFill>
                <a:latin typeface="DM Sans"/>
              </a:rPr>
              <a:t>The regimes were interpretable, but closer to calm/stress than pure bull/bear.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6428232"/>
            <a:ext cx="11167567" cy="9144"/>
          </a:xfrm>
          <a:prstGeom prst="rect">
            <a:avLst/>
          </a:prstGeom>
          <a:solidFill>
            <a:srgbClr val="3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12064" y="6492240"/>
            <a:ext cx="6400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50" b="0">
                <a:solidFill>
                  <a:srgbClr val="666678"/>
                </a:solidFill>
                <a:latin typeface="JetBrains Mono"/>
              </a:rPr>
              <a:t>HONOURS PROJECT · HMM-LSTM STOCK DIRECTION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50831" y="6492240"/>
            <a:ext cx="1828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r"/>
            <a:r>
              <a:rPr sz="850" b="0">
                <a:solidFill>
                  <a:srgbClr val="666678"/>
                </a:solidFill>
                <a:latin typeface="JetBrains Mono"/>
              </a:rPr>
              <a:t>SLIDE 06 / 14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0028439"/>
              </p:ext>
            </p:extLst>
          </p:nvPr>
        </p:nvGraphicFramePr>
        <p:xfrm>
          <a:off x="1915064" y="3190044"/>
          <a:ext cx="7496355" cy="3081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8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8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8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0340"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6B2B"/>
                          </a:solidFill>
                          <a:latin typeface="JetBrains Mono"/>
                        </a:rPr>
                        <a:t>Ticker</a:t>
                      </a:r>
                    </a:p>
                  </a:txBody>
                  <a:tcPr>
                    <a:solidFill>
                      <a:srgbClr val="1111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6B2B"/>
                          </a:solidFill>
                          <a:latin typeface="JetBrains Mono"/>
                        </a:rPr>
                        <a:t>Bullish μ/σ</a:t>
                      </a:r>
                    </a:p>
                  </a:txBody>
                  <a:tcPr>
                    <a:solidFill>
                      <a:srgbClr val="1111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6B2B"/>
                          </a:solidFill>
                          <a:latin typeface="JetBrains Mono"/>
                        </a:rPr>
                        <a:t>Bearish μ/σ</a:t>
                      </a:r>
                    </a:p>
                  </a:txBody>
                  <a:tcPr>
                    <a:solidFill>
                      <a:srgbClr val="1111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0340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F0F0F5"/>
                          </a:solidFill>
                          <a:latin typeface="DM Sans"/>
                        </a:rPr>
                        <a:t>AAPL</a:t>
                      </a:r>
                    </a:p>
                  </a:txBody>
                  <a:tcPr>
                    <a:solidFill>
                      <a:srgbClr val="1616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A4A4B8"/>
                          </a:solidFill>
                          <a:latin typeface="DM Sans"/>
                        </a:rPr>
                        <a:t>0.010 / 0.022</a:t>
                      </a:r>
                    </a:p>
                  </a:txBody>
                  <a:tcPr>
                    <a:solidFill>
                      <a:srgbClr val="1616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A4A4B8"/>
                          </a:solidFill>
                          <a:latin typeface="DM Sans"/>
                        </a:rPr>
                        <a:t>-0.003 / 0.053</a:t>
                      </a:r>
                    </a:p>
                  </a:txBody>
                  <a:tcPr>
                    <a:solidFill>
                      <a:srgbClr val="1616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0340"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F0F0F5"/>
                          </a:solidFill>
                          <a:latin typeface="DM Sans"/>
                        </a:rPr>
                        <a:t>IBM</a:t>
                      </a:r>
                    </a:p>
                  </a:txBody>
                  <a:tcPr>
                    <a:solidFill>
                      <a:srgbClr val="1616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A4A4B8"/>
                          </a:solidFill>
                          <a:latin typeface="DM Sans"/>
                        </a:rPr>
                        <a:t>0.002 / 0.017</a:t>
                      </a:r>
                    </a:p>
                  </a:txBody>
                  <a:tcPr>
                    <a:solidFill>
                      <a:srgbClr val="1616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A4A4B8"/>
                          </a:solidFill>
                          <a:latin typeface="DM Sans"/>
                        </a:rPr>
                        <a:t>-0.003 / 0.055</a:t>
                      </a:r>
                    </a:p>
                  </a:txBody>
                  <a:tcPr>
                    <a:solidFill>
                      <a:srgbClr val="1616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0340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F0F0F5"/>
                          </a:solidFill>
                          <a:latin typeface="DM Sans"/>
                        </a:rPr>
                        <a:t>MSFT</a:t>
                      </a:r>
                    </a:p>
                  </a:txBody>
                  <a:tcPr>
                    <a:solidFill>
                      <a:srgbClr val="1616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A4A4B8"/>
                          </a:solidFill>
                          <a:latin typeface="DM Sans"/>
                        </a:rPr>
                        <a:t>0.006 / 0.021</a:t>
                      </a:r>
                    </a:p>
                  </a:txBody>
                  <a:tcPr>
                    <a:solidFill>
                      <a:srgbClr val="1616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A4A4B8"/>
                          </a:solidFill>
                          <a:latin typeface="DM Sans"/>
                        </a:rPr>
                        <a:t>-0.004 / 0.065</a:t>
                      </a:r>
                    </a:p>
                  </a:txBody>
                  <a:tcPr>
                    <a:solidFill>
                      <a:srgbClr val="1616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1518250" y="1344168"/>
            <a:ext cx="7893170" cy="1590021"/>
          </a:xfrm>
          <a:prstGeom prst="roundRect">
            <a:avLst>
              <a:gd name="adj" fmla="val 50000"/>
            </a:avLst>
          </a:prstGeom>
          <a:solidFill>
            <a:srgbClr val="16161E"/>
          </a:solidFill>
          <a:ln w="9525">
            <a:solidFill>
              <a:srgbClr val="24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22876" y="1512468"/>
            <a:ext cx="437997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l"/>
            <a:r>
              <a:rPr sz="2000" b="1" dirty="0">
                <a:solidFill>
                  <a:srgbClr val="F0F0F5"/>
                </a:solidFill>
                <a:latin typeface="Inter"/>
              </a:rPr>
              <a:t>Interpretation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49462" y="1886081"/>
            <a:ext cx="4379976" cy="13716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89874" y="1970102"/>
            <a:ext cx="4637389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/>
            <a:r>
              <a:rPr sz="1600" b="0" dirty="0">
                <a:solidFill>
                  <a:srgbClr val="A4A4B8"/>
                </a:solidFill>
                <a:latin typeface="DM Sans"/>
              </a:rPr>
              <a:t>Bullish regimes had higher return and lower volatility; bearish regimes had lower return and higher volatility.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320040"/>
            <a:ext cx="7315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50" b="0">
                <a:solidFill>
                  <a:srgbClr val="666678"/>
                </a:solidFill>
                <a:latin typeface="JetBrains Mono"/>
              </a:rPr>
              <a:t>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82351" y="320040"/>
            <a:ext cx="10972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r"/>
            <a:r>
              <a:rPr sz="850" b="0">
                <a:solidFill>
                  <a:srgbClr val="666678"/>
                </a:solidFill>
                <a:latin typeface="JetBrains Mono"/>
              </a:rPr>
              <a:t>07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94944"/>
            <a:ext cx="11167567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800" b="1">
                <a:solidFill>
                  <a:srgbClr val="F0F0F5"/>
                </a:solidFill>
                <a:latin typeface="Inter"/>
              </a:rPr>
              <a:t>HMM-only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115568"/>
            <a:ext cx="11167567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300" b="0">
                <a:solidFill>
                  <a:srgbClr val="A4A4B8"/>
                </a:solidFill>
                <a:latin typeface="DM Sans"/>
              </a:rPr>
              <a:t>HMM alone was diagnostic, but not consistently predictive.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6428232"/>
            <a:ext cx="11167567" cy="9144"/>
          </a:xfrm>
          <a:prstGeom prst="rect">
            <a:avLst/>
          </a:prstGeom>
          <a:solidFill>
            <a:srgbClr val="3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12064" y="6492240"/>
            <a:ext cx="6400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50" b="0">
                <a:solidFill>
                  <a:srgbClr val="666678"/>
                </a:solidFill>
                <a:latin typeface="JetBrains Mono"/>
              </a:rPr>
              <a:t>HONOURS PROJECT · HMM-LSTM STOCK DIRECTION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50831" y="6492240"/>
            <a:ext cx="1828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r"/>
            <a:r>
              <a:rPr sz="850" b="0">
                <a:solidFill>
                  <a:srgbClr val="666678"/>
                </a:solidFill>
                <a:latin typeface="JetBrains Mono"/>
              </a:rPr>
              <a:t>SLIDE 07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" y="1572768"/>
            <a:ext cx="5989320" cy="3474720"/>
          </a:xfrm>
          <a:prstGeom prst="roundRect">
            <a:avLst/>
          </a:prstGeom>
          <a:solidFill>
            <a:srgbClr val="0D0D13"/>
          </a:solidFill>
          <a:ln w="9525">
            <a:solidFill>
              <a:srgbClr val="24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hmm_only_test_au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1697619"/>
            <a:ext cx="5989320" cy="322501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720840" y="1572768"/>
            <a:ext cx="4343400" cy="777240"/>
          </a:xfrm>
          <a:prstGeom prst="roundRect">
            <a:avLst/>
          </a:prstGeom>
          <a:solidFill>
            <a:srgbClr val="16161E"/>
          </a:solidFill>
          <a:ln w="9525">
            <a:solidFill>
              <a:srgbClr val="24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85432" y="1709928"/>
            <a:ext cx="401421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lnSpcReduction="10000"/>
          </a:bodyPr>
          <a:lstStyle/>
          <a:p>
            <a:pPr algn="l"/>
            <a:r>
              <a:rPr sz="1500" b="1">
                <a:solidFill>
                  <a:srgbClr val="F0F0F5"/>
                </a:solidFill>
                <a:latin typeface="Inter"/>
              </a:rPr>
              <a:t>AAPL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85432" y="2029968"/>
            <a:ext cx="4014216" cy="1371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85432" y="2139696"/>
            <a:ext cx="4014216" cy="1188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fontScale="47500" lnSpcReduction="20000"/>
          </a:bodyPr>
          <a:lstStyle/>
          <a:p>
            <a:pPr algn="l"/>
            <a:r>
              <a:rPr sz="1200" b="0">
                <a:solidFill>
                  <a:srgbClr val="A4A4B8"/>
                </a:solidFill>
                <a:latin typeface="DM Sans"/>
              </a:rPr>
              <a:t>Weak standalone ROC-AUC: 0.437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2542032"/>
            <a:ext cx="4343400" cy="777240"/>
          </a:xfrm>
          <a:prstGeom prst="roundRect">
            <a:avLst/>
          </a:prstGeom>
          <a:solidFill>
            <a:srgbClr val="16161E"/>
          </a:solidFill>
          <a:ln w="9525">
            <a:solidFill>
              <a:srgbClr val="24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85432" y="2679192"/>
            <a:ext cx="401421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lnSpcReduction="10000"/>
          </a:bodyPr>
          <a:lstStyle/>
          <a:p>
            <a:pPr algn="l"/>
            <a:r>
              <a:rPr sz="1500" b="1">
                <a:solidFill>
                  <a:srgbClr val="F0F0F5"/>
                </a:solidFill>
                <a:latin typeface="Inter"/>
              </a:rPr>
              <a:t>IBM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85432" y="2999232"/>
            <a:ext cx="4014216" cy="1371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85432" y="3108960"/>
            <a:ext cx="4014216" cy="1188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fontScale="47500" lnSpcReduction="20000"/>
          </a:bodyPr>
          <a:lstStyle/>
          <a:p>
            <a:pPr algn="l"/>
            <a:r>
              <a:rPr sz="1200" b="0">
                <a:solidFill>
                  <a:srgbClr val="A4A4B8"/>
                </a:solidFill>
                <a:latin typeface="DM Sans"/>
              </a:rPr>
              <a:t>Some signal: HMM-only ROC-AUC 0.539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20840" y="3511296"/>
            <a:ext cx="4343400" cy="777240"/>
          </a:xfrm>
          <a:prstGeom prst="roundRect">
            <a:avLst/>
          </a:prstGeom>
          <a:solidFill>
            <a:srgbClr val="16161E"/>
          </a:solidFill>
          <a:ln w="9525">
            <a:solidFill>
              <a:srgbClr val="24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85432" y="3648456"/>
            <a:ext cx="401421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lnSpcReduction="10000"/>
          </a:bodyPr>
          <a:lstStyle/>
          <a:p>
            <a:pPr algn="l"/>
            <a:r>
              <a:rPr sz="1500" b="1">
                <a:solidFill>
                  <a:srgbClr val="F0F0F5"/>
                </a:solidFill>
                <a:latin typeface="Inter"/>
              </a:rPr>
              <a:t>MSFT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85432" y="3968496"/>
            <a:ext cx="4014216" cy="1371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85432" y="4078224"/>
            <a:ext cx="4014216" cy="1188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fontScale="47500" lnSpcReduction="20000"/>
          </a:bodyPr>
          <a:lstStyle/>
          <a:p>
            <a:pPr algn="l"/>
            <a:r>
              <a:rPr sz="1200" b="0">
                <a:solidFill>
                  <a:srgbClr val="A4A4B8"/>
                </a:solidFill>
                <a:latin typeface="DM Sans"/>
              </a:rPr>
              <a:t>Weak standalone ROC-AUC: 0.453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320040"/>
            <a:ext cx="7315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50" b="0">
                <a:solidFill>
                  <a:srgbClr val="666678"/>
                </a:solidFill>
                <a:latin typeface="JetBrains Mono"/>
              </a:rPr>
              <a:t>CONTROLLED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82351" y="320040"/>
            <a:ext cx="10972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r"/>
            <a:r>
              <a:rPr sz="850" b="0">
                <a:solidFill>
                  <a:srgbClr val="666678"/>
                </a:solidFill>
                <a:latin typeface="JetBrains Mono"/>
              </a:rPr>
              <a:t>08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94944"/>
            <a:ext cx="11167567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800" b="1">
                <a:solidFill>
                  <a:srgbClr val="F0F0F5"/>
                </a:solidFill>
                <a:latin typeface="Inter"/>
              </a:rPr>
              <a:t>Controlled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115568"/>
            <a:ext cx="11167567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300" b="0">
                <a:solidFill>
                  <a:srgbClr val="A4A4B8"/>
                </a:solidFill>
                <a:latin typeface="DM Sans"/>
              </a:rPr>
              <a:t>HMM did not consistently improve the technical-only LSTM.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6428232"/>
            <a:ext cx="11167567" cy="9144"/>
          </a:xfrm>
          <a:prstGeom prst="rect">
            <a:avLst/>
          </a:prstGeom>
          <a:solidFill>
            <a:srgbClr val="3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12064" y="6492240"/>
            <a:ext cx="6400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50" b="0">
                <a:solidFill>
                  <a:srgbClr val="666678"/>
                </a:solidFill>
                <a:latin typeface="JetBrains Mono"/>
              </a:rPr>
              <a:t>HONOURS PROJECT · HMM-LSTM STOCK DIRECTION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50831" y="6492240"/>
            <a:ext cx="1828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r"/>
            <a:r>
              <a:rPr sz="850" b="0">
                <a:solidFill>
                  <a:srgbClr val="666678"/>
                </a:solidFill>
                <a:latin typeface="JetBrains Mono"/>
              </a:rPr>
              <a:t>SLIDE 08 / 14</a:t>
            </a:r>
          </a:p>
        </p:txBody>
      </p:sp>
      <p:pic>
        <p:nvPicPr>
          <p:cNvPr id="10" name="Picture 9" descr="final_test_roc_curves_by_tic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1988734"/>
            <a:ext cx="10902475" cy="356167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320040"/>
            <a:ext cx="7315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50" b="0">
                <a:solidFill>
                  <a:srgbClr val="666678"/>
                </a:solidFill>
                <a:latin typeface="JetBrains Mono"/>
              </a:rPr>
              <a:t>INCREMENTAL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82351" y="320040"/>
            <a:ext cx="10972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r"/>
            <a:r>
              <a:rPr sz="850" b="0">
                <a:solidFill>
                  <a:srgbClr val="666678"/>
                </a:solidFill>
                <a:latin typeface="JetBrains Mono"/>
              </a:rPr>
              <a:t>09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94944"/>
            <a:ext cx="11167567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800" b="1">
                <a:solidFill>
                  <a:srgbClr val="F0F0F5"/>
                </a:solidFill>
                <a:latin typeface="Inter"/>
              </a:rPr>
              <a:t>HMM incremental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115568"/>
            <a:ext cx="11167567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300" b="0">
                <a:solidFill>
                  <a:srgbClr val="A4A4B8"/>
                </a:solidFill>
                <a:latin typeface="DM Sans"/>
              </a:rPr>
              <a:t>The HMM effect was ticker-dependent, not universal.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6428232"/>
            <a:ext cx="11167567" cy="9144"/>
          </a:xfrm>
          <a:prstGeom prst="rect">
            <a:avLst/>
          </a:prstGeom>
          <a:solidFill>
            <a:srgbClr val="3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12064" y="6492240"/>
            <a:ext cx="6400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50" b="0">
                <a:solidFill>
                  <a:srgbClr val="666678"/>
                </a:solidFill>
                <a:latin typeface="JetBrains Mono"/>
              </a:rPr>
              <a:t>HONOURS PROJECT · HMM-LSTM STOCK DIRECTION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50831" y="6492240"/>
            <a:ext cx="1828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r"/>
            <a:r>
              <a:rPr sz="850" b="0">
                <a:solidFill>
                  <a:srgbClr val="666678"/>
                </a:solidFill>
                <a:latin typeface="JetBrains Mono"/>
              </a:rPr>
              <a:t>SLIDE 09 / 14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3751169"/>
              </p:ext>
            </p:extLst>
          </p:nvPr>
        </p:nvGraphicFramePr>
        <p:xfrm>
          <a:off x="512064" y="1600200"/>
          <a:ext cx="11167567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18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18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18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918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8629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6B2B"/>
                          </a:solidFill>
                          <a:latin typeface="JetBrains Mono"/>
                        </a:rPr>
                        <a:t>Ticker</a:t>
                      </a:r>
                    </a:p>
                  </a:txBody>
                  <a:tcPr>
                    <a:solidFill>
                      <a:srgbClr val="1111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6B2B"/>
                          </a:solidFill>
                          <a:latin typeface="JetBrains Mono"/>
                        </a:rPr>
                        <a:t>Technical LSTM</a:t>
                      </a:r>
                    </a:p>
                  </a:txBody>
                  <a:tcPr>
                    <a:solidFill>
                      <a:srgbClr val="1111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6B2B"/>
                          </a:solidFill>
                          <a:latin typeface="JetBrains Mono"/>
                        </a:rPr>
                        <a:t>Technical + HMM</a:t>
                      </a:r>
                    </a:p>
                  </a:txBody>
                  <a:tcPr>
                    <a:solidFill>
                      <a:srgbClr val="11111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6B2B"/>
                          </a:solidFill>
                          <a:latin typeface="JetBrains Mono"/>
                        </a:rPr>
                        <a:t>HMM effect</a:t>
                      </a:r>
                    </a:p>
                  </a:txBody>
                  <a:tcPr>
                    <a:solidFill>
                      <a:srgbClr val="1111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629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F0F0F5"/>
                          </a:solidFill>
                          <a:latin typeface="DM Sans"/>
                        </a:rPr>
                        <a:t>AAPL</a:t>
                      </a:r>
                    </a:p>
                  </a:txBody>
                  <a:tcPr>
                    <a:solidFill>
                      <a:srgbClr val="1616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A4A4B8"/>
                          </a:solidFill>
                          <a:latin typeface="DM Sans"/>
                        </a:rPr>
                        <a:t>0.531</a:t>
                      </a:r>
                    </a:p>
                  </a:txBody>
                  <a:tcPr>
                    <a:solidFill>
                      <a:srgbClr val="1616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A4A4B8"/>
                          </a:solidFill>
                          <a:latin typeface="DM Sans"/>
                        </a:rPr>
                        <a:t>0.470</a:t>
                      </a:r>
                    </a:p>
                  </a:txBody>
                  <a:tcPr>
                    <a:solidFill>
                      <a:srgbClr val="1616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A4A4B8"/>
                          </a:solidFill>
                          <a:latin typeface="DM Sans"/>
                        </a:rPr>
                        <a:t>-0.061 · worsened</a:t>
                      </a:r>
                    </a:p>
                  </a:txBody>
                  <a:tcPr>
                    <a:solidFill>
                      <a:srgbClr val="1616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629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F0F0F5"/>
                          </a:solidFill>
                          <a:latin typeface="DM Sans"/>
                        </a:rPr>
                        <a:t>IBM</a:t>
                      </a:r>
                    </a:p>
                  </a:txBody>
                  <a:tcPr>
                    <a:solidFill>
                      <a:srgbClr val="1616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A4A4B8"/>
                          </a:solidFill>
                          <a:latin typeface="DM Sans"/>
                        </a:rPr>
                        <a:t>0.583</a:t>
                      </a:r>
                    </a:p>
                  </a:txBody>
                  <a:tcPr>
                    <a:solidFill>
                      <a:srgbClr val="1616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A4A4B8"/>
                          </a:solidFill>
                          <a:latin typeface="DM Sans"/>
                        </a:rPr>
                        <a:t>0.585</a:t>
                      </a:r>
                    </a:p>
                  </a:txBody>
                  <a:tcPr>
                    <a:solidFill>
                      <a:srgbClr val="1616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A4A4B8"/>
                          </a:solidFill>
                          <a:latin typeface="DM Sans"/>
                        </a:rPr>
                        <a:t>+0.002 · tiny gain</a:t>
                      </a:r>
                    </a:p>
                  </a:txBody>
                  <a:tcPr>
                    <a:solidFill>
                      <a:srgbClr val="1616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632">
                <a:tc>
                  <a:txBody>
                    <a:bodyPr/>
                    <a:lstStyle/>
                    <a:p>
                      <a:pPr algn="ctr"/>
                      <a:r>
                        <a:rPr sz="1200" dirty="0">
                          <a:solidFill>
                            <a:srgbClr val="F0F0F5"/>
                          </a:solidFill>
                          <a:latin typeface="DM Sans"/>
                        </a:rPr>
                        <a:t>MSFT</a:t>
                      </a:r>
                    </a:p>
                  </a:txBody>
                  <a:tcPr>
                    <a:solidFill>
                      <a:srgbClr val="1616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A4A4B8"/>
                          </a:solidFill>
                          <a:latin typeface="DM Sans"/>
                        </a:rPr>
                        <a:t>0.476</a:t>
                      </a:r>
                    </a:p>
                  </a:txBody>
                  <a:tcPr>
                    <a:solidFill>
                      <a:srgbClr val="1616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A4A4B8"/>
                          </a:solidFill>
                          <a:latin typeface="DM Sans"/>
                        </a:rPr>
                        <a:t>0.474</a:t>
                      </a:r>
                    </a:p>
                  </a:txBody>
                  <a:tcPr>
                    <a:solidFill>
                      <a:srgbClr val="16161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dirty="0">
                          <a:solidFill>
                            <a:srgbClr val="A4A4B8"/>
                          </a:solidFill>
                          <a:latin typeface="DM Sans"/>
                        </a:rPr>
                        <a:t>-0.003 · no gain</a:t>
                      </a:r>
                    </a:p>
                  </a:txBody>
                  <a:tcPr>
                    <a:solidFill>
                      <a:srgbClr val="1616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12064" y="3886200"/>
            <a:ext cx="11167567" cy="1051560"/>
          </a:xfrm>
          <a:prstGeom prst="roundRect">
            <a:avLst/>
          </a:prstGeom>
          <a:solidFill>
            <a:srgbClr val="16161E"/>
          </a:solidFill>
          <a:ln w="9525">
            <a:solidFill>
              <a:srgbClr val="24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6656" y="4023360"/>
            <a:ext cx="10838383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lnSpcReduction="10000"/>
          </a:bodyPr>
          <a:lstStyle/>
          <a:p>
            <a:pPr algn="l"/>
            <a:r>
              <a:rPr sz="1600" b="1">
                <a:solidFill>
                  <a:srgbClr val="F0F0F5"/>
                </a:solidFill>
                <a:latin typeface="Inter"/>
              </a:rPr>
              <a:t>Main sentence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" y="4343400"/>
            <a:ext cx="10838383" cy="13716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656" y="4453128"/>
            <a:ext cx="10838383" cy="3931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400" b="0">
                <a:solidFill>
                  <a:srgbClr val="A4A4B8"/>
                </a:solidFill>
                <a:latin typeface="DM Sans"/>
              </a:rPr>
              <a:t>HMM value is ticker-dependent: it was harmful for AAPL in the controlled setting, almost neutral for IBM, and did not improve MSFT.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320040"/>
            <a:ext cx="7315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50" b="0">
                <a:solidFill>
                  <a:srgbClr val="666678"/>
                </a:solidFill>
                <a:latin typeface="JetBrains Mono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82351" y="320040"/>
            <a:ext cx="10972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r"/>
            <a:r>
              <a:rPr sz="850" b="0">
                <a:solidFill>
                  <a:srgbClr val="666678"/>
                </a:solidFill>
                <a:latin typeface="JetBrains Mono"/>
              </a:rPr>
              <a:t>10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94944"/>
            <a:ext cx="11167567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800" b="1">
                <a:solidFill>
                  <a:srgbClr val="F0F0F5"/>
                </a:solidFill>
                <a:latin typeface="Inter"/>
              </a:rPr>
              <a:t>Weekly market-context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115568"/>
            <a:ext cx="11167567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300" b="0">
                <a:solidFill>
                  <a:srgbClr val="A4A4B8"/>
                </a:solidFill>
                <a:latin typeface="DM Sans"/>
              </a:rPr>
              <a:t>After testing HMM directly, broader context was added to the LSTM input.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6428232"/>
            <a:ext cx="11167567" cy="9144"/>
          </a:xfrm>
          <a:prstGeom prst="rect">
            <a:avLst/>
          </a:prstGeom>
          <a:solidFill>
            <a:srgbClr val="3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12064" y="6492240"/>
            <a:ext cx="6400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50" b="0">
                <a:solidFill>
                  <a:srgbClr val="666678"/>
                </a:solidFill>
                <a:latin typeface="JetBrains Mono"/>
              </a:rPr>
              <a:t>HONOURS PROJECT · HMM-LSTM STOCK DIRECTION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50831" y="6492240"/>
            <a:ext cx="1828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r"/>
            <a:r>
              <a:rPr sz="850" b="0">
                <a:solidFill>
                  <a:srgbClr val="666678"/>
                </a:solidFill>
                <a:latin typeface="JetBrains Mono"/>
              </a:rPr>
              <a:t>SLIDE 10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" y="1600200"/>
            <a:ext cx="3520440" cy="1097280"/>
          </a:xfrm>
          <a:prstGeom prst="roundRect">
            <a:avLst/>
          </a:prstGeom>
          <a:solidFill>
            <a:srgbClr val="16161E"/>
          </a:solidFill>
          <a:ln w="9525">
            <a:solidFill>
              <a:srgbClr val="24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6656" y="1737360"/>
            <a:ext cx="319125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400" b="1">
                <a:solidFill>
                  <a:srgbClr val="F0F0F5"/>
                </a:solidFill>
                <a:latin typeface="Inter"/>
              </a:rPr>
              <a:t>Volatility context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" y="2057400"/>
            <a:ext cx="3191256" cy="1371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6656" y="2167128"/>
            <a:ext cx="3191256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150" b="0">
                <a:solidFill>
                  <a:srgbClr val="A4A4B8"/>
                </a:solidFill>
                <a:latin typeface="DM Sans"/>
              </a:rPr>
              <a:t>VIX/VXN levels, changes, z-scores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79392" y="1600200"/>
            <a:ext cx="3520440" cy="1097280"/>
          </a:xfrm>
          <a:prstGeom prst="roundRect">
            <a:avLst/>
          </a:prstGeom>
          <a:solidFill>
            <a:srgbClr val="16161E"/>
          </a:solidFill>
          <a:ln w="9525">
            <a:solidFill>
              <a:srgbClr val="24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43984" y="1737360"/>
            <a:ext cx="319125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400" b="1">
                <a:solidFill>
                  <a:srgbClr val="F0F0F5"/>
                </a:solidFill>
                <a:latin typeface="Inter"/>
              </a:rPr>
              <a:t>Market context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43984" y="2057400"/>
            <a:ext cx="3191256" cy="1371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43984" y="2167128"/>
            <a:ext cx="3191256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150" b="0">
                <a:solidFill>
                  <a:srgbClr val="A4A4B8"/>
                </a:solidFill>
                <a:latin typeface="DM Sans"/>
              </a:rPr>
              <a:t>QQQ weekly return, volume, momentum, moving-average gaps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600200"/>
            <a:ext cx="3520440" cy="1097280"/>
          </a:xfrm>
          <a:prstGeom prst="roundRect">
            <a:avLst/>
          </a:prstGeom>
          <a:solidFill>
            <a:srgbClr val="16161E"/>
          </a:solidFill>
          <a:ln w="9525">
            <a:solidFill>
              <a:srgbClr val="24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11312" y="1737360"/>
            <a:ext cx="319125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400" b="1">
                <a:solidFill>
                  <a:srgbClr val="F0F0F5"/>
                </a:solidFill>
                <a:latin typeface="Inter"/>
              </a:rPr>
              <a:t>Relative context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11312" y="2057400"/>
            <a:ext cx="3191256" cy="1371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11312" y="2167128"/>
            <a:ext cx="3191256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150" b="0">
                <a:solidFill>
                  <a:srgbClr val="A4A4B8"/>
                </a:solidFill>
                <a:latin typeface="DM Sans"/>
              </a:rPr>
              <a:t>Stock return, momentum, and volatility versus QQQ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" y="3200400"/>
            <a:ext cx="3520440" cy="1097280"/>
          </a:xfrm>
          <a:prstGeom prst="roundRect">
            <a:avLst/>
          </a:prstGeom>
          <a:solidFill>
            <a:srgbClr val="16161E"/>
          </a:solidFill>
          <a:ln w="9525">
            <a:solidFill>
              <a:srgbClr val="24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6656" y="3337560"/>
            <a:ext cx="319125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400" b="1">
                <a:solidFill>
                  <a:srgbClr val="F0F0F5"/>
                </a:solidFill>
                <a:latin typeface="Inter"/>
              </a:rPr>
              <a:t>HMM probabilities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6" y="3657600"/>
            <a:ext cx="3191256" cy="13716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6656" y="3767328"/>
            <a:ext cx="3191256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150" b="0">
                <a:solidFill>
                  <a:srgbClr val="A4A4B8"/>
                </a:solidFill>
                <a:latin typeface="DM Sans"/>
              </a:rPr>
              <a:t>Stock regime and next-week positive-return probabilities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79392" y="3200400"/>
            <a:ext cx="3520440" cy="1097280"/>
          </a:xfrm>
          <a:prstGeom prst="roundRect">
            <a:avLst/>
          </a:prstGeom>
          <a:solidFill>
            <a:srgbClr val="16161E"/>
          </a:solidFill>
          <a:ln w="9525">
            <a:solidFill>
              <a:srgbClr val="24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43984" y="3337560"/>
            <a:ext cx="319125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400" b="1">
                <a:solidFill>
                  <a:srgbClr val="F0F0F5"/>
                </a:solidFill>
                <a:latin typeface="Inter"/>
              </a:rPr>
              <a:t>Stacked model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43984" y="3657600"/>
            <a:ext cx="3191256" cy="13716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443984" y="3767328"/>
            <a:ext cx="3191256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150" b="0">
                <a:solidFill>
                  <a:srgbClr val="A4A4B8"/>
                </a:solidFill>
                <a:latin typeface="DM Sans"/>
              </a:rPr>
              <a:t>Additional architecture capacity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3200400"/>
            <a:ext cx="3520440" cy="1097280"/>
          </a:xfrm>
          <a:prstGeom prst="roundRect">
            <a:avLst/>
          </a:prstGeom>
          <a:solidFill>
            <a:srgbClr val="16161E"/>
          </a:solidFill>
          <a:ln w="9525">
            <a:solidFill>
              <a:srgbClr val="24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11312" y="3337560"/>
            <a:ext cx="319125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400" b="1">
                <a:solidFill>
                  <a:srgbClr val="F0F0F5"/>
                </a:solidFill>
                <a:latin typeface="Inter"/>
              </a:rPr>
              <a:t>Lookbacks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11312" y="3657600"/>
            <a:ext cx="3191256" cy="1371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11312" y="3767328"/>
            <a:ext cx="3191256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150" b="0">
                <a:solidFill>
                  <a:srgbClr val="A4A4B8"/>
                </a:solidFill>
                <a:latin typeface="DM Sans"/>
              </a:rPr>
              <a:t>4, 8, 12, and 26 weeks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" y="5166360"/>
            <a:ext cx="11167567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ctr"/>
            <a:r>
              <a:rPr sz="2000" b="1">
                <a:solidFill>
                  <a:srgbClr val="F0F0F5"/>
                </a:solidFill>
                <a:latin typeface="Inter"/>
              </a:rPr>
              <a:t>Market context and HMM context were tested separately, then combined.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ounded Rectangle 42"/>
          <p:cNvSpPr/>
          <p:nvPr/>
        </p:nvSpPr>
        <p:spPr>
          <a:xfrm>
            <a:off x="7452360" y="2659279"/>
            <a:ext cx="3794760" cy="914400"/>
          </a:xfrm>
          <a:prstGeom prst="roundRect">
            <a:avLst/>
          </a:prstGeom>
          <a:solidFill>
            <a:srgbClr val="16161E"/>
          </a:solidFill>
          <a:ln w="9525">
            <a:solidFill>
              <a:srgbClr val="24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12064" y="320040"/>
            <a:ext cx="7315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50" b="0">
                <a:solidFill>
                  <a:srgbClr val="666678"/>
                </a:solidFill>
                <a:latin typeface="JetBrains Mono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82351" y="320040"/>
            <a:ext cx="10972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r"/>
            <a:r>
              <a:rPr sz="850" b="0">
                <a:solidFill>
                  <a:srgbClr val="666678"/>
                </a:solidFill>
                <a:latin typeface="JetBrains Mono"/>
              </a:rPr>
              <a:t>10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94944"/>
            <a:ext cx="11167567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800" b="1">
                <a:solidFill>
                  <a:srgbClr val="F0F0F5"/>
                </a:solidFill>
                <a:latin typeface="Inter"/>
              </a:rPr>
              <a:t>Weekly market-context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115568"/>
            <a:ext cx="11167567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300" b="0">
                <a:solidFill>
                  <a:srgbClr val="A4A4B8"/>
                </a:solidFill>
                <a:latin typeface="DM Sans"/>
              </a:rPr>
              <a:t>After testing HMM directly, broader context was added to the LSTM input.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6428232"/>
            <a:ext cx="11167567" cy="9144"/>
          </a:xfrm>
          <a:prstGeom prst="rect">
            <a:avLst/>
          </a:prstGeom>
          <a:solidFill>
            <a:srgbClr val="3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12064" y="6492240"/>
            <a:ext cx="6400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50" b="0">
                <a:solidFill>
                  <a:srgbClr val="666678"/>
                </a:solidFill>
                <a:latin typeface="JetBrains Mono"/>
              </a:rPr>
              <a:t>HONOURS PROJECT · HMM-LSTM STOCK DIRECTION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50831" y="6492240"/>
            <a:ext cx="1828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r"/>
            <a:r>
              <a:rPr sz="850" b="0">
                <a:solidFill>
                  <a:srgbClr val="666678"/>
                </a:solidFill>
                <a:latin typeface="JetBrains Mono"/>
              </a:rPr>
              <a:t>SLIDE 10 / 14</a:t>
            </a:r>
          </a:p>
        </p:txBody>
      </p:sp>
      <p:pic>
        <p:nvPicPr>
          <p:cNvPr id="34" name="Picture 33" descr="vix_vxn_weekly_context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1419808"/>
            <a:ext cx="6629400" cy="4192120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7452360" y="1481328"/>
            <a:ext cx="3794760" cy="960120"/>
          </a:xfrm>
          <a:prstGeom prst="roundRect">
            <a:avLst/>
          </a:prstGeom>
          <a:solidFill>
            <a:srgbClr val="16161E"/>
          </a:solidFill>
          <a:ln w="9525">
            <a:solidFill>
              <a:srgbClr val="24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616952" y="1618488"/>
            <a:ext cx="346557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lnSpcReduction="10000"/>
          </a:bodyPr>
          <a:lstStyle/>
          <a:p>
            <a:pPr algn="l"/>
            <a:r>
              <a:rPr sz="1500" b="1">
                <a:solidFill>
                  <a:srgbClr val="F0F0F5"/>
                </a:solidFill>
                <a:latin typeface="Inter"/>
              </a:rPr>
              <a:t>Why VIX?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16952" y="1891995"/>
            <a:ext cx="3465576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/>
            <a:r>
              <a:rPr sz="1200" b="0" dirty="0">
                <a:solidFill>
                  <a:srgbClr val="A4A4B8"/>
                </a:solidFill>
                <a:latin typeface="DM Sans"/>
              </a:rPr>
              <a:t>VIX measures broad S&amp;P 500 implied volatility, so it acts as a market-wide fear and uncertainty proxy.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16952" y="2743200"/>
            <a:ext cx="346557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lnSpcReduction="10000"/>
          </a:bodyPr>
          <a:lstStyle/>
          <a:p>
            <a:pPr algn="l"/>
            <a:r>
              <a:rPr sz="1500" b="1" dirty="0">
                <a:solidFill>
                  <a:srgbClr val="F0F0F5"/>
                </a:solidFill>
                <a:latin typeface="Inter"/>
              </a:rPr>
              <a:t>Why VXN?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16952" y="3172968"/>
            <a:ext cx="3465576" cy="3017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/>
            <a:r>
              <a:rPr sz="1100" b="0" dirty="0">
                <a:solidFill>
                  <a:srgbClr val="A4A4B8"/>
                </a:solidFill>
                <a:latin typeface="DM Sans"/>
              </a:rPr>
              <a:t>VXN measures Nasdaq-100 implied volatility, giving a technology-heavy risk signal that is closer to AAPL and MSFT.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13167" y="3823817"/>
            <a:ext cx="3794760" cy="914400"/>
          </a:xfrm>
          <a:prstGeom prst="roundRect">
            <a:avLst/>
          </a:prstGeom>
          <a:solidFill>
            <a:srgbClr val="16161E"/>
          </a:solidFill>
          <a:ln w="9525">
            <a:solidFill>
              <a:srgbClr val="24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616952" y="3950208"/>
            <a:ext cx="346557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lnSpcReduction="10000"/>
          </a:bodyPr>
          <a:lstStyle/>
          <a:p>
            <a:pPr algn="l"/>
            <a:r>
              <a:rPr sz="1500" b="1">
                <a:solidFill>
                  <a:srgbClr val="F0F0F5"/>
                </a:solidFill>
                <a:latin typeface="Inter"/>
              </a:rPr>
              <a:t>Why the spread?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16952" y="4297680"/>
            <a:ext cx="346557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/>
            <a:r>
              <a:rPr sz="1100" b="0" dirty="0">
                <a:solidFill>
                  <a:srgbClr val="A4A4B8"/>
                </a:solidFill>
                <a:latin typeface="DM Sans"/>
              </a:rPr>
              <a:t>VXN minus VIX captures when technology risk rises relative to the broader market.</a:t>
            </a:r>
          </a:p>
        </p:txBody>
      </p:sp>
    </p:spTree>
    <p:extLst>
      <p:ext uri="{BB962C8B-B14F-4D97-AF65-F5344CB8AC3E}">
        <p14:creationId xmlns:p14="http://schemas.microsoft.com/office/powerpoint/2010/main" val="32431157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320040"/>
            <a:ext cx="7315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50" b="0">
                <a:solidFill>
                  <a:srgbClr val="666678"/>
                </a:solidFill>
                <a:latin typeface="JetBrains Mono"/>
              </a:rPr>
              <a:t>BEST FOUND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82351" y="320040"/>
            <a:ext cx="10972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r"/>
            <a:r>
              <a:rPr sz="850" b="0">
                <a:solidFill>
                  <a:srgbClr val="666678"/>
                </a:solidFill>
                <a:latin typeface="JetBrains Mono"/>
              </a:rPr>
              <a:t>11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94944"/>
            <a:ext cx="11167567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800" b="1">
                <a:solidFill>
                  <a:srgbClr val="F0F0F5"/>
                </a:solidFill>
                <a:latin typeface="Inter"/>
              </a:rPr>
              <a:t>Best-found enriched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115568"/>
            <a:ext cx="11167567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300" b="0">
                <a:solidFill>
                  <a:srgbClr val="A4A4B8"/>
                </a:solidFill>
                <a:latin typeface="DM Sans"/>
              </a:rPr>
              <a:t>Exploratory best test ROC-AUC values improved, especially for IBM and MSFT.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6428232"/>
            <a:ext cx="11167567" cy="9144"/>
          </a:xfrm>
          <a:prstGeom prst="rect">
            <a:avLst/>
          </a:prstGeom>
          <a:solidFill>
            <a:srgbClr val="3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12064" y="6492240"/>
            <a:ext cx="6400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50" b="0">
                <a:solidFill>
                  <a:srgbClr val="666678"/>
                </a:solidFill>
                <a:latin typeface="JetBrains Mono"/>
              </a:rPr>
              <a:t>HONOURS PROJECT · HMM-LSTM STOCK DIRECTION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50831" y="6492240"/>
            <a:ext cx="1828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r"/>
            <a:r>
              <a:rPr sz="850" b="0">
                <a:solidFill>
                  <a:srgbClr val="666678"/>
                </a:solidFill>
                <a:latin typeface="JetBrains Mono"/>
              </a:rPr>
              <a:t>SLIDE 11 / 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44728" y="3172968"/>
            <a:ext cx="3749039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/>
            <a:r>
              <a:rPr sz="2000" b="0" dirty="0">
                <a:solidFill>
                  <a:schemeClr val="bg1">
                    <a:lumMod val="95000"/>
                  </a:schemeClr>
                </a:solidFill>
                <a:latin typeface="DM Sans"/>
              </a:rPr>
              <a:t>HMM appears in the best AAPL model only; IBM and MSFT peak with market-context LSTMs.</a:t>
            </a: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378" y="1773591"/>
            <a:ext cx="6376702" cy="422944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320040"/>
            <a:ext cx="7315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50" b="0">
                <a:solidFill>
                  <a:srgbClr val="666678"/>
                </a:solidFill>
                <a:latin typeface="JetBrains Mono"/>
              </a:rPr>
              <a:t>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82351" y="320040"/>
            <a:ext cx="10972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r"/>
            <a:r>
              <a:rPr sz="850" b="0">
                <a:solidFill>
                  <a:srgbClr val="666678"/>
                </a:solidFill>
                <a:latin typeface="JetBrains Mono"/>
              </a:rPr>
              <a:t>12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94944"/>
            <a:ext cx="11167567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800" b="1">
                <a:solidFill>
                  <a:srgbClr val="F0F0F5"/>
                </a:solidFill>
                <a:latin typeface="Inter"/>
              </a:rPr>
              <a:t>Answer to the research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115568"/>
            <a:ext cx="11167567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300" b="0">
                <a:solidFill>
                  <a:srgbClr val="A4A4B8"/>
                </a:solidFill>
                <a:latin typeface="DM Sans"/>
              </a:rPr>
              <a:t>Regimes help understanding; market context helps prediction more robustly.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6428232"/>
            <a:ext cx="11167567" cy="9144"/>
          </a:xfrm>
          <a:prstGeom prst="rect">
            <a:avLst/>
          </a:prstGeom>
          <a:solidFill>
            <a:srgbClr val="3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12064" y="6492240"/>
            <a:ext cx="6400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50" b="0">
                <a:solidFill>
                  <a:srgbClr val="666678"/>
                </a:solidFill>
                <a:latin typeface="JetBrains Mono"/>
              </a:rPr>
              <a:t>HONOURS PROJECT · HMM-LSTM STOCK DIRECTION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50831" y="6492240"/>
            <a:ext cx="1828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r"/>
            <a:r>
              <a:rPr sz="850" b="0">
                <a:solidFill>
                  <a:srgbClr val="666678"/>
                </a:solidFill>
                <a:latin typeface="JetBrains Mono"/>
              </a:rPr>
              <a:t>SLIDE 12 / 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" y="1508760"/>
            <a:ext cx="5349240" cy="1417320"/>
          </a:xfrm>
          <a:prstGeom prst="roundRect">
            <a:avLst/>
          </a:prstGeom>
          <a:solidFill>
            <a:srgbClr val="16161E"/>
          </a:solidFill>
          <a:ln w="9525">
            <a:solidFill>
              <a:srgbClr val="24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6656" y="1645920"/>
            <a:ext cx="502005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fontScale="92500" lnSpcReduction="10000"/>
          </a:bodyPr>
          <a:lstStyle/>
          <a:p>
            <a:pPr algn="l"/>
            <a:r>
              <a:rPr sz="1700" b="1">
                <a:solidFill>
                  <a:srgbClr val="F0F0F5"/>
                </a:solidFill>
                <a:latin typeface="Inter"/>
              </a:rPr>
              <a:t>HMM contribution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" y="1965960"/>
            <a:ext cx="5020056" cy="13716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6656" y="2075688"/>
            <a:ext cx="5020056" cy="7589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300" b="0">
                <a:solidFill>
                  <a:srgbClr val="A4A4B8"/>
                </a:solidFill>
                <a:latin typeface="DM Sans"/>
              </a:rPr>
              <a:t>HMM-derived regime information improves interpretability and sometimes helps prediction, but it does not consistently improve LSTM performance across all tickers.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08760"/>
            <a:ext cx="5029200" cy="1417320"/>
          </a:xfrm>
          <a:prstGeom prst="roundRect">
            <a:avLst/>
          </a:prstGeom>
          <a:solidFill>
            <a:srgbClr val="16161E"/>
          </a:solidFill>
          <a:ln w="9525">
            <a:solidFill>
              <a:srgbClr val="24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82512" y="1645920"/>
            <a:ext cx="470001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fontScale="92500" lnSpcReduction="10000"/>
          </a:bodyPr>
          <a:lstStyle/>
          <a:p>
            <a:pPr algn="l"/>
            <a:r>
              <a:rPr sz="1700" b="1">
                <a:solidFill>
                  <a:srgbClr val="F0F0F5"/>
                </a:solidFill>
                <a:latin typeface="Inter"/>
              </a:rPr>
              <a:t>Market context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82512" y="1965960"/>
            <a:ext cx="4700016" cy="1371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2075688"/>
            <a:ext cx="4700016" cy="7589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300" b="0">
                <a:solidFill>
                  <a:srgbClr val="A4A4B8"/>
                </a:solidFill>
                <a:latin typeface="DM Sans"/>
              </a:rPr>
              <a:t>Weekly market-context features, especially QQQ and volatility/market variables, provide more robust improvements.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" y="3291840"/>
            <a:ext cx="11167567" cy="1097280"/>
          </a:xfrm>
          <a:prstGeom prst="roundRect">
            <a:avLst/>
          </a:prstGeom>
          <a:solidFill>
            <a:srgbClr val="16161E"/>
          </a:solidFill>
          <a:ln w="9525">
            <a:solidFill>
              <a:srgbClr val="242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6656" y="3429000"/>
            <a:ext cx="10838383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fontScale="92500" lnSpcReduction="10000"/>
          </a:bodyPr>
          <a:lstStyle/>
          <a:p>
            <a:pPr algn="l"/>
            <a:r>
              <a:rPr sz="1700" b="1">
                <a:solidFill>
                  <a:srgbClr val="F0F0F5"/>
                </a:solidFill>
                <a:latin typeface="Inter"/>
              </a:rPr>
              <a:t>Overall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" y="3749040"/>
            <a:ext cx="10838383" cy="1371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6656" y="3858768"/>
            <a:ext cx="10838383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 lnSpcReduction="10000"/>
          </a:bodyPr>
          <a:lstStyle/>
          <a:p>
            <a:pPr algn="l"/>
            <a:r>
              <a:rPr sz="1400" b="0">
                <a:solidFill>
                  <a:srgbClr val="A4A4B8"/>
                </a:solidFill>
                <a:latin typeface="DM Sans"/>
              </a:rPr>
              <a:t>Prediction remains ticker-dependent and benchmark-sensitive; the strongest results should be interpreted as best-found exploratory evidence.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320040"/>
            <a:ext cx="7315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50" b="0">
                <a:solidFill>
                  <a:srgbClr val="666678"/>
                </a:solidFill>
                <a:latin typeface="JetBrains Mono"/>
              </a:rPr>
              <a:t>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82351" y="320040"/>
            <a:ext cx="10972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r"/>
            <a:r>
              <a:rPr sz="850" b="0">
                <a:solidFill>
                  <a:srgbClr val="666678"/>
                </a:solidFill>
                <a:latin typeface="JetBrains Mono"/>
              </a:rPr>
              <a:t>13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694944"/>
            <a:ext cx="11167567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800" b="1">
                <a:solidFill>
                  <a:srgbClr val="F0F0F5"/>
                </a:solidFill>
                <a:latin typeface="Inter"/>
              </a:rPr>
              <a:t>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115568"/>
            <a:ext cx="11167567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1300" b="0">
                <a:solidFill>
                  <a:srgbClr val="A4A4B8"/>
                </a:solidFill>
                <a:latin typeface="DM Sans"/>
              </a:rPr>
              <a:t>The results are useful, but the forecasting claim should stay cautious.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6428232"/>
            <a:ext cx="11167567" cy="9144"/>
          </a:xfrm>
          <a:prstGeom prst="rect">
            <a:avLst/>
          </a:prstGeom>
          <a:solidFill>
            <a:srgbClr val="3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12064" y="6492240"/>
            <a:ext cx="6400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50" b="0">
                <a:solidFill>
                  <a:srgbClr val="666678"/>
                </a:solidFill>
                <a:latin typeface="JetBrains Mono"/>
              </a:rPr>
              <a:t>HONOURS PROJECT · HMM-LSTM STOCK DIRECTION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50831" y="6492240"/>
            <a:ext cx="1828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r"/>
            <a:r>
              <a:rPr sz="850" b="0">
                <a:solidFill>
                  <a:srgbClr val="666678"/>
                </a:solidFill>
                <a:latin typeface="JetBrains Mono"/>
              </a:rPr>
              <a:t>SLIDE 13 /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508760"/>
            <a:ext cx="11167567" cy="3474720"/>
          </a:xfrm>
          <a:prstGeom prst="rect">
            <a:avLst/>
          </a:prstGeom>
          <a:noFill/>
        </p:spPr>
        <p:txBody>
          <a:bodyPr wrap="square" lIns="36576" tIns="18288" rIns="36576" bIns="18288">
            <a:norm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FF6B2B"/>
                </a:solidFill>
                <a:latin typeface="DM Sans"/>
              </a:rPr>
              <a:t>— </a:t>
            </a:r>
            <a:r>
              <a:rPr sz="2000">
                <a:solidFill>
                  <a:srgbClr val="A4A4B8"/>
                </a:solidFill>
                <a:latin typeface="DM Sans"/>
              </a:rPr>
              <a:t>Only three stocks were studied.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FF6B2B"/>
                </a:solidFill>
                <a:latin typeface="DM Sans"/>
              </a:rPr>
              <a:t>— </a:t>
            </a:r>
            <a:r>
              <a:rPr sz="2000">
                <a:solidFill>
                  <a:srgbClr val="A4A4B8"/>
                </a:solidFill>
                <a:latin typeface="DM Sans"/>
              </a:rPr>
              <a:t>Weekly test samples are small.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FF6B2B"/>
                </a:solidFill>
                <a:latin typeface="DM Sans"/>
              </a:rPr>
              <a:t>— </a:t>
            </a:r>
            <a:r>
              <a:rPr sz="2000">
                <a:solidFill>
                  <a:srgbClr val="A4A4B8"/>
                </a:solidFill>
                <a:latin typeface="DM Sans"/>
              </a:rPr>
              <a:t>Stock direction remains noisy and benchmark-sensitive.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FF6B2B"/>
                </a:solidFill>
                <a:latin typeface="DM Sans"/>
              </a:rPr>
              <a:t>— </a:t>
            </a:r>
            <a:r>
              <a:rPr sz="2000">
                <a:solidFill>
                  <a:srgbClr val="A4A4B8"/>
                </a:solidFill>
                <a:latin typeface="DM Sans"/>
              </a:rPr>
              <a:t>Best-found models need careful validation.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FF6B2B"/>
                </a:solidFill>
                <a:latin typeface="DM Sans"/>
              </a:rPr>
              <a:t>— </a:t>
            </a:r>
            <a:r>
              <a:rPr sz="2000">
                <a:solidFill>
                  <a:srgbClr val="A4A4B8"/>
                </a:solidFill>
                <a:latin typeface="DM Sans"/>
              </a:rPr>
              <a:t>HMM regimes are descriptive, not always predictive.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3983" y="4435358"/>
            <a:ext cx="3975397" cy="1051042"/>
          </a:xfrm>
          <a:prstGeom prst="roundRect">
            <a:avLst/>
          </a:prstGeom>
          <a:solidFill>
            <a:srgbClr val="0D0D13"/>
          </a:solidFill>
          <a:ln w="9525">
            <a:solidFill>
              <a:srgbClr val="FF6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6B2B"/>
                </a:solidFill>
                <a:latin typeface="JetBrains Mono"/>
              </a:rPr>
              <a:t>Best-found ≠ universal forecasting edge</a:t>
            </a:r>
          </a:p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4996419" y="4809744"/>
            <a:ext cx="31089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Autofit/>
          </a:bodyPr>
          <a:lstStyle/>
          <a:p>
            <a:pPr algn="ctr"/>
            <a:endParaRPr sz="2400" b="1" dirty="0">
              <a:solidFill>
                <a:srgbClr val="FF6B2B"/>
              </a:solidFill>
              <a:latin typeface="JetBrains Mon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2064" y="320040"/>
            <a:ext cx="7315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50" b="0">
                <a:solidFill>
                  <a:srgbClr val="666678"/>
                </a:solidFill>
                <a:latin typeface="JetBrains Mono"/>
              </a:rPr>
              <a:t>FINAL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82351" y="320040"/>
            <a:ext cx="10972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r"/>
            <a:r>
              <a:rPr sz="850" b="0">
                <a:solidFill>
                  <a:srgbClr val="666678"/>
                </a:solidFill>
                <a:latin typeface="JetBrains Mono"/>
              </a:rPr>
              <a:t>14 /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1325880"/>
            <a:ext cx="11167567" cy="1508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3100" b="1">
                <a:solidFill>
                  <a:srgbClr val="F0F0F5"/>
                </a:solidFill>
                <a:latin typeface="Inter"/>
              </a:rPr>
              <a:t>The main finding is that HMM regimes are useful for understanding market states, while weekly market-context features are more useful for prediction.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3246120"/>
            <a:ext cx="11167567" cy="1143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2800" b="1" dirty="0">
                <a:solidFill>
                  <a:srgbClr val="FF6B2B"/>
                </a:solidFill>
                <a:latin typeface="Inter"/>
              </a:rPr>
              <a:t>The HMM-LSTM framework provides partial evidence of improvement, but not a universal forecasting advantage.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6428232"/>
            <a:ext cx="11167567" cy="9144"/>
          </a:xfrm>
          <a:prstGeom prst="rect">
            <a:avLst/>
          </a:prstGeom>
          <a:solidFill>
            <a:srgbClr val="3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12064" y="6492240"/>
            <a:ext cx="6400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l"/>
            <a:r>
              <a:rPr sz="850" b="0">
                <a:solidFill>
                  <a:srgbClr val="666678"/>
                </a:solidFill>
                <a:latin typeface="JetBrains Mono"/>
              </a:rPr>
              <a:t>HONOURS PROJECT · HMM-LSTM STOCK DIRECTION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50831" y="6492240"/>
            <a:ext cx="1828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normAutofit/>
          </a:bodyPr>
          <a:lstStyle/>
          <a:p>
            <a:pPr algn="r"/>
            <a:r>
              <a:rPr sz="850" b="0">
                <a:solidFill>
                  <a:srgbClr val="666678"/>
                </a:solidFill>
                <a:latin typeface="JetBrains Mono"/>
              </a:rPr>
              <a:t>SLIDE 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1051</Words>
  <Application>Microsoft Office PowerPoint</Application>
  <PresentationFormat>Widescreen</PresentationFormat>
  <Paragraphs>197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DM Sans</vt:lpstr>
      <vt:lpstr>Inter</vt:lpstr>
      <vt:lpstr>JetBrains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Nguyen, T.H. (Ha)</cp:lastModifiedBy>
  <cp:revision>6</cp:revision>
  <dcterms:created xsi:type="dcterms:W3CDTF">2013-01-27T09:14:16Z</dcterms:created>
  <dcterms:modified xsi:type="dcterms:W3CDTF">2026-07-09T10:14:56Z</dcterms:modified>
  <cp:category/>
</cp:coreProperties>
</file>